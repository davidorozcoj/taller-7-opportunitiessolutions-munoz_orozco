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2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3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6273F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6273F"/>
                </a:solidFill>
                <a:latin typeface="Arial"/>
              </a:rPr>
              <a:t>Pesos definidos por el negocio (suman 100)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Peso (%)</c:v>
                </c:pt>
              </c:strCache>
            </c:strRef>
          </c:tx>
          <c:spPr>
            <a:solidFill>
              <a:srgbClr val="16273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73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Disponibilidad</c:v>
                  </c:pt>
                  <c:pt idx="1">
                    <c:v>Costo total</c:v>
                  </c:pt>
                  <c:pt idx="2">
                    <c:v>Complejidad</c:v>
                  </c:pt>
                  <c:pt idx="3">
                    <c:v>Tiempo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</c:v>
                </c:pt>
                <c:pt idx="1">
                  <c:v>25</c:v>
                </c:pt>
                <c:pt idx="2">
                  <c:v>20</c:v>
                </c:pt>
                <c:pt idx="3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6273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3B4C5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6273F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6273F"/>
                </a:solidFill>
                <a:latin typeface="Arial"/>
              </a:rPr>
              <a:t>Ranking (escala 1-5)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ponderado</c:v>
                </c:pt>
              </c:strCache>
            </c:strRef>
          </c:tx>
          <c:spPr>
            <a:solidFill>
              <a:srgbClr val="1C715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73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C715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A718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A7189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A</c:v>
                  </c:pt>
                  <c:pt idx="1">
                    <c:v>C</c:v>
                  </c:pt>
                  <c:pt idx="2">
                    <c:v>B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3.8</c:v>
                </c:pt>
                <c:pt idx="1">
                  <c:v>3.6</c:v>
                </c:pt>
                <c:pt idx="2">
                  <c:v>3.05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6273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B4C5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6273F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6273F"/>
                </a:solidFill>
                <a:latin typeface="Arial"/>
              </a:rPr>
              <a:t>Sensibilidad: totales según los pesos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Pesos del negocio (35/25/20/20)</c:v>
                </c:pt>
              </c:strCache>
            </c:strRef>
          </c:tx>
          <c:spPr>
            <a:solidFill>
              <a:srgbClr val="16273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6273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3.8</c:v>
                </c:pt>
                <c:pt idx="1">
                  <c:v>3.05</c:v>
                </c:pt>
                <c:pt idx="2">
                  <c:v>3.6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Prioriza costo (15/35/25/25)</c:v>
                </c:pt>
              </c:strCache>
            </c:strRef>
          </c:tx>
          <c:spPr>
            <a:solidFill>
              <a:srgbClr val="B4552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6273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3.75</c:v>
                </c:pt>
                <c:pt idx="1">
                  <c:v>2.45</c:v>
                </c:pt>
                <c:pt idx="2">
                  <c:v>4.4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50" u="none">
                  <a:solidFill>
                    <a:srgbClr val="16273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B4C5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
              <a:solidFill>
                <a:srgbClr val="3B4C5E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Hilo de la clase: primero entendemos el contexto (AS-IS y brechas), luego armamos posibles soluciones, y al final aprendemos a decidir entre ellas con un método defendible. Todo con un mismo ejemplo: RedExpress.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ejemplo continuo de toda la clase es RedExpress (Talleres 3 y 4). En su proyecto real suman también las brechas de seguridad (Taller 5) y de cumplimiento (Taller 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es un diagrama nuevo: es el C2/mapa de infraestructura resumido. El objetivo de esta lámina es recordar dónde estamos parados antes de proponer nada.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la regla que sostiene todo lo demás: cada elemento del TO-BE debe poder rastrearse a una brecha de un entregable anterior.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tres preguntas orientadoras son de la guía oficial de la actividad de mejora. En clase usamos solo brechas técnicas porque son las únicas completamente diagnosticadas; en el proyecto real se suman seguridad y normatividad.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Regla: no se descarta nada todavía. Si alguna idea es un agente de IA (como el chatbot #7), no se modela como caja negra: se usa el patrón de sistemas agénticos de la guía ArchiMate.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Priorizar cruza impacto y esfuerzo. Los quick wins van primero. Ahora tomamos la prioridad 1 (balanceador) y más adelante veremos cómo decidir cómo resolverla.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TO-BE de aplicaciones extiende el C2 del Taller 3 y el de tecnología extiende el mapa del Taller 4. Si alguna mitigación STRIDE del Taller 5 protege uno de estos componentes, se declara explícitamente.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valores en dólares, semanas y envíos por hora de las siguientes láminas son supuestos del ejemplo. En el proyecto real se reemplazan con datos del cliente.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 el marco de decisión de ocho pasos del Módulo 8 (Gobierno de Arquitectura). Aquí se practica; en el Taller 9 se registra el resultado como ADR.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Regla práctica: si su enunciado contiene el nombre de una tecnología o la palabra 'necesitamos', reescríbalo. Fechas, dólares y volúmenes son supuestos del ejemplo.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criterio lleva una escala explícita para que dos personas puntúen igual. 5 siempre es lo más favorable (más barato, más simple, más rápido). Rangos intermedios de costo: 4 = 100-500, 3 = 500-800, 2 = 800-1.200. Tiempo: 4 = 2-3 sem., 3 = 4-6, 2 = 7-10.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consulta a quien sabe (aporta datos) y a quien le afecta (aporta el umbral de lo tolerable). Anotar quién dijo qué permite defender cada puntaje.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Escala 1-5, donde 5 siempre es lo más favorable. Fíjese en C: saca 5 en costo, complejidad y tiempo, pero 1 en disponibilidad, que es justo lo que el problema exige.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Cálculo: puntaje × peso de cada criterio, sumado. Los pesos suman 100 % (0,35 + 0,25 + 0,20 + 0,20).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la lámina que más se olvida. La matriz no decide por usted: le muestra qué pasa con distintos supuestos. Demostrar en vivo con la página visualizacion-opportunities-solutions.html del repo.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IA es muy buena ampliando opciones y generando la pregunta incómoda; es poco confiable dando cifras. Por eso cada afirmación suya se verifica o se recalcula.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Resto del peso repartido en partes iguales entre los otros tres criterios. Comprobación: con 62,5 % ambos suman 3,875.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reglas 3 y 4 son las que más se incumplen. La tríada letal y el patrón agéntico ya se vieron en el Taller 5 y en la guía de ArchiMate.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decisión sin fecha ni disparador de revisión se vuelve dogma. Y una ADR buena lleva las alternativas descartadas con su razón y también las consecuencias negativas.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capacidades salen de los procesos clave de la ficha del cliente (Taller 0), nombradas con verbo + objeto y sin tecnología. Cada paquete de trabajo se convierte en una fase del roadmap del Taller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Nunca documentar solo beneficios: sin los riesgos, el comité aprueba sin conocer las dependencias reales y las descubre tarde.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Propuesta de tiempos (45 minutos); ajústelos a la sesión. Plantillas en el repo del Taller 7: plantilla_matriz_decision.md y plantilla_mejora_arquitectura.md.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7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6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UNIVERSIDAD DE LA SABANA · TALLER 7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brecha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 decisión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7432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Oportunidades y Soluciones: partir del contexto, armar la solución y decidir con criterio.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2976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Profesor: Ing. César Augusto Vega Fernández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035040" y="1188720"/>
            <a:ext cx="640080" cy="640080"/>
          </a:xfrm>
          <a:prstGeom prst="ellipse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03504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812280" y="1188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55080" y="1847088"/>
            <a:ext cx="0" cy="365760"/>
          </a:xfrm>
          <a:prstGeom prst="line">
            <a:avLst/>
          </a:prstGeom>
          <a:noFill/>
          <a:ln w="19050">
            <a:solidFill>
              <a:srgbClr val="8CA6B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035040" y="2240280"/>
            <a:ext cx="640080" cy="640080"/>
          </a:xfrm>
          <a:prstGeom prst="ellipse">
            <a:avLst/>
          </a:prstGeom>
          <a:solidFill>
            <a:srgbClr val="4E7A9E"/>
          </a:solidFill>
          <a:ln w="12700">
            <a:solidFill>
              <a:srgbClr val="4E7A9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3504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812280" y="22402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Armar la solución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355080" y="2898648"/>
            <a:ext cx="0" cy="365760"/>
          </a:xfrm>
          <a:prstGeom prst="line">
            <a:avLst/>
          </a:prstGeom>
          <a:noFill/>
          <a:ln w="19050">
            <a:solidFill>
              <a:srgbClr val="8CA6B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035040" y="3291840"/>
            <a:ext cx="640080" cy="640080"/>
          </a:xfrm>
          <a:prstGeom prst="ellipse">
            <a:avLst/>
          </a:prstGeom>
          <a:solidFill>
            <a:srgbClr val="B4552B"/>
          </a:solidFill>
          <a:ln w="12700">
            <a:solidFill>
              <a:srgbClr val="B4552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35040" y="3291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812280" y="32918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Tomar la decisión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OBJETIVO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se lleva de esta clase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Taller 7 · Oportunidades y Soluciones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606040" cy="2286000"/>
          </a:xfrm>
          <a:prstGeom prst="rect">
            <a:avLst/>
          </a:prstGeom>
          <a:solidFill>
            <a:srgbClr val="F3F6F8"/>
          </a:solidFill>
          <a:ln w="9525">
            <a:solidFill>
              <a:srgbClr val="C6C4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554480"/>
            <a:ext cx="457200" cy="457200"/>
          </a:xfrm>
          <a:prstGeom prst="ellipse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148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Partir del contexto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5603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el AS-IS y convertir hallazgos de los Talleres 3 a 6 en brechas concretas, no en opiniones.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64408" y="1371600"/>
            <a:ext cx="2606040" cy="2286000"/>
          </a:xfrm>
          <a:prstGeom prst="rect">
            <a:avLst/>
          </a:prstGeom>
          <a:solidFill>
            <a:srgbClr val="F3F6F8"/>
          </a:solidFill>
          <a:ln w="9525">
            <a:solidFill>
              <a:srgbClr val="C6C4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47288" y="1554480"/>
            <a:ext cx="457200" cy="457200"/>
          </a:xfrm>
          <a:prstGeom prst="ellipse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47288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447288" y="2148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Armar la solución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3447288" y="25603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con una lluvia de ideas sin censura, priorizar 2-3 y dibujar el TO-BE que corrige cada brecha.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71616" y="1371600"/>
            <a:ext cx="2606040" cy="2286000"/>
          </a:xfrm>
          <a:prstGeom prst="rect">
            <a:avLst/>
          </a:prstGeom>
          <a:solidFill>
            <a:srgbClr val="F3F6F8"/>
          </a:solidFill>
          <a:ln w="9525">
            <a:solidFill>
              <a:srgbClr val="C6C4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54496" y="1554480"/>
            <a:ext cx="457200" cy="457200"/>
          </a:xfrm>
          <a:prstGeom prst="ellipse">
            <a:avLst/>
          </a:prstGeom>
          <a:solidFill>
            <a:srgbClr val="B4552B"/>
          </a:solidFill>
          <a:ln w="12700">
            <a:solidFill>
              <a:srgbClr val="B4552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54496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254496" y="2148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Tomar la decisión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6254496" y="25603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una brecha tiene varias soluciones, elegir con criterios ponderados y dejar la razón escrita.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45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ENTREGABLE  </a:t>
            </a:r>
            <a:pPr indent="0" marL="0">
              <a:buNone/>
            </a:pPr>
            <a:r>
              <a:rPr lang="en-US" sz="120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de mejora de arquitectura (máx. 6 páginas + anexos): diagnóstico, propuesta de mejoras, TO-BE y análisis de beneficios y riesgos.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1 · CONTEXTO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punto de partida: RedExpress hoy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Taller 7 · Oportunidades y Soluciones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71600"/>
            <a:ext cx="3840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RedExpress es una plataforma de logística de última milla con operación en Bogotá y Medellín.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tenemos su AS-IS: el C2 del Taller 3 y el mapa de infraestructura del Taller 4.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dolió al diagnosticarlo: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solicitud pasa por un único balanceador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base de datos escribe solo en Bogotá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Medellín depende del motor de rutas de Bogotá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371600"/>
            <a:ext cx="3840480" cy="502920"/>
          </a:xfrm>
          <a:prstGeom prst="rect">
            <a:avLst/>
          </a:prstGeom>
          <a:solidFill>
            <a:srgbClr val="DCE6ED"/>
          </a:solidFill>
          <a:ln w="12700">
            <a:solidFill>
              <a:srgbClr val="DCE6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46320" y="1371600"/>
            <a:ext cx="3840480" cy="5029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Clientes: app móvil y portal web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766560" y="1874520"/>
            <a:ext cx="0" cy="320040"/>
          </a:xfrm>
          <a:prstGeom prst="line">
            <a:avLst/>
          </a:prstGeom>
          <a:noFill/>
          <a:ln w="19050">
            <a:solidFill>
              <a:srgbClr val="5A7189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846320" y="2514600"/>
            <a:ext cx="3840480" cy="594360"/>
          </a:xfrm>
          <a:prstGeom prst="rect">
            <a:avLst/>
          </a:prstGeom>
          <a:solidFill>
            <a:srgbClr val="B4552B"/>
          </a:solidFill>
          <a:ln w="12700">
            <a:solidFill>
              <a:srgbClr val="B4552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2514600"/>
            <a:ext cx="3840480" cy="5943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Balanceador de carga · instancia única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715000" y="3108960"/>
            <a:ext cx="0" cy="365760"/>
          </a:xfrm>
          <a:prstGeom prst="line">
            <a:avLst/>
          </a:prstGeom>
          <a:noFill/>
          <a:ln w="19050">
            <a:solidFill>
              <a:srgbClr val="5A7189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818120" y="3108960"/>
            <a:ext cx="0" cy="365760"/>
          </a:xfrm>
          <a:prstGeom prst="line">
            <a:avLst/>
          </a:prstGeom>
          <a:noFill/>
          <a:ln w="19050">
            <a:solidFill>
              <a:srgbClr val="5A7189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846320" y="3474720"/>
            <a:ext cx="1828800" cy="914400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46320" y="3474720"/>
            <a:ext cx="1828800" cy="9144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Región Bogotá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rutas + BD (escritura única)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858000" y="3474720"/>
            <a:ext cx="1828800" cy="914400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0" y="3474720"/>
            <a:ext cx="1828800" cy="9144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Región Medellín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módulo de rutas propio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1 · CONTEXTO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brecha real siempre tiene un origen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Taller 7 · Oportunidades y Soluciones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377440"/>
                <a:gridCol w="365760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 de brecha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identifica 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Ejemplo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Funcional / Aplicaciones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Taller 3 (C1/C2 AS-IS)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Falta un contenedor que resuelva una limitación del sistema actual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Técnica / Infraestructura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Taller 4 (mapa + diagnóstico)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Punto único de falla, cuello de botella, límite de escalabilidad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Seguridad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Taller 5 (STRIDE)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Amenaza identificada sin mitigación implementada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Cumplimiento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Taller 6 (checklist normativo)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Ítem Parcial en el checklist, registrado en Brechas Identificadas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40233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rápida: si no puede decir de qué taller salió, probablemente no es una brecha: es una opinión.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1 · CONTEXTO · EJEMPLO REDEXPRESS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diagnóstico a las brechas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Taller 7 · Oportunidades y Soluciones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80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PREGUNTA ORIENTADORA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3383280" y="1280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 QUE SE ENCONTRÓ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858000" y="1280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45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BRECHA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554480"/>
            <a:ext cx="2697480" cy="896112"/>
          </a:xfrm>
          <a:prstGeom prst="rect">
            <a:avLst/>
          </a:prstGeom>
          <a:solidFill>
            <a:srgbClr val="DCE6ED"/>
          </a:solidFill>
          <a:ln w="12700">
            <a:solidFill>
              <a:srgbClr val="DCE6E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1554480"/>
            <a:ext cx="2697480" cy="896112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genera más fricción en la operación?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54680" y="2002536"/>
            <a:ext cx="228600" cy="0"/>
          </a:xfrm>
          <a:prstGeom prst="line">
            <a:avLst/>
          </a:prstGeom>
          <a:noFill/>
          <a:ln w="19050">
            <a:solidFill>
              <a:srgbClr val="5A7189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383280" y="1554480"/>
            <a:ext cx="3200400" cy="896112"/>
          </a:xfrm>
          <a:prstGeom prst="rect">
            <a:avLst/>
          </a:prstGeom>
          <a:solidFill>
            <a:srgbClr val="F3F6F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383280" y="1554480"/>
            <a:ext cx="3200400" cy="896112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balanceador único y una BD con escritura centralizada: lentitud y riesgo de caída total en picos.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83680" y="2002536"/>
            <a:ext cx="228600" cy="0"/>
          </a:xfrm>
          <a:prstGeom prst="line">
            <a:avLst/>
          </a:prstGeom>
          <a:noFill/>
          <a:ln w="19050">
            <a:solidFill>
              <a:srgbClr val="5A718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812280" y="1554480"/>
            <a:ext cx="1874520" cy="896112"/>
          </a:xfrm>
          <a:prstGeom prst="rect">
            <a:avLst/>
          </a:prstGeom>
          <a:solidFill>
            <a:srgbClr val="B4552B"/>
          </a:solidFill>
          <a:ln w="12700">
            <a:solidFill>
              <a:srgbClr val="B4552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12280" y="1554480"/>
            <a:ext cx="1874520" cy="89611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único de falla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Cuello de botella de escritura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578608"/>
            <a:ext cx="2697480" cy="896112"/>
          </a:xfrm>
          <a:prstGeom prst="rect">
            <a:avLst/>
          </a:prstGeom>
          <a:solidFill>
            <a:srgbClr val="DCE6ED"/>
          </a:solidFill>
          <a:ln w="12700">
            <a:solidFill>
              <a:srgbClr val="DCE6E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2578608"/>
            <a:ext cx="2697480" cy="896112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problema repiten los usuarios?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154680" y="3026664"/>
            <a:ext cx="228600" cy="0"/>
          </a:xfrm>
          <a:prstGeom prst="line">
            <a:avLst/>
          </a:prstGeom>
          <a:noFill/>
          <a:ln w="19050">
            <a:solidFill>
              <a:srgbClr val="5A7189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383280" y="2578608"/>
            <a:ext cx="3200400" cy="896112"/>
          </a:xfrm>
          <a:prstGeom prst="rect">
            <a:avLst/>
          </a:prstGeom>
          <a:solidFill>
            <a:srgbClr val="F3F6F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383280" y="2578608"/>
            <a:ext cx="3200400" cy="896112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usuarios de Medellín reportan demoras en la asignación de rutas: todo depende del motor de Bogotá.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583680" y="3026664"/>
            <a:ext cx="228600" cy="0"/>
          </a:xfrm>
          <a:prstGeom prst="line">
            <a:avLst/>
          </a:prstGeom>
          <a:noFill/>
          <a:ln w="19050">
            <a:solidFill>
              <a:srgbClr val="5A7189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812280" y="2578608"/>
            <a:ext cx="1874520" cy="896112"/>
          </a:xfrm>
          <a:prstGeom prst="rect">
            <a:avLst/>
          </a:prstGeom>
          <a:solidFill>
            <a:srgbClr val="B4552B"/>
          </a:solidFill>
          <a:ln w="12700">
            <a:solidFill>
              <a:srgbClr val="B4552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12280" y="2578608"/>
            <a:ext cx="1874520" cy="89611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 de escalabilidad geográfica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602736"/>
            <a:ext cx="2697480" cy="896112"/>
          </a:xfrm>
          <a:prstGeom prst="rect">
            <a:avLst/>
          </a:prstGeom>
          <a:solidFill>
            <a:srgbClr val="DCE6ED"/>
          </a:solidFill>
          <a:ln w="12700">
            <a:solidFill>
              <a:srgbClr val="DCE6E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7200" y="3602736"/>
            <a:ext cx="2697480" cy="896112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riesgos quedaron evidenciados?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154680" y="4050792"/>
            <a:ext cx="228600" cy="0"/>
          </a:xfrm>
          <a:prstGeom prst="line">
            <a:avLst/>
          </a:prstGeom>
          <a:noFill/>
          <a:ln w="19050">
            <a:solidFill>
              <a:srgbClr val="5A7189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3383280" y="3602736"/>
            <a:ext cx="3200400" cy="896112"/>
          </a:xfrm>
          <a:prstGeom prst="rect">
            <a:avLst/>
          </a:prstGeom>
          <a:solidFill>
            <a:srgbClr val="F3F6F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383280" y="3602736"/>
            <a:ext cx="3200400" cy="896112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único de falla, cuello de botella de escritura y límite de escalabilidad (mapa del Taller 4).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583680" y="4050792"/>
            <a:ext cx="228600" cy="0"/>
          </a:xfrm>
          <a:prstGeom prst="line">
            <a:avLst/>
          </a:prstGeom>
          <a:noFill/>
          <a:ln w="19050">
            <a:solidFill>
              <a:srgbClr val="5A7189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12280" y="3602736"/>
            <a:ext cx="1874520" cy="896112"/>
          </a:xfrm>
          <a:prstGeom prst="rect">
            <a:avLst/>
          </a:prstGeom>
          <a:solidFill>
            <a:srgbClr val="B4552B"/>
          </a:solidFill>
          <a:ln w="12700">
            <a:solidFill>
              <a:srgbClr val="B4552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812280" y="3602736"/>
            <a:ext cx="1874520" cy="89611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tres brechas quedan en una sola lista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2 · ARMAR LA SOLUCIÓN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 abrir: lluvia de ideas sin censura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Taller 7 · Oportunidades y Soluciones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6 ideas antes de elegir. No todas son técnicas: algunas ni siquiera tocan la infraestructura.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1920240" cy="1188720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18562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A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2130552"/>
            <a:ext cx="1700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Balanceador de carga redundante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542032" y="1783080"/>
            <a:ext cx="1920240" cy="1188720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51760" y="18562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A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2651760" y="2130552"/>
            <a:ext cx="1700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 particionada por región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626864" y="1783080"/>
            <a:ext cx="1920240" cy="1188720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36592" y="18562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A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#3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736592" y="2130552"/>
            <a:ext cx="1700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de rutas propio en Medellín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711696" y="1783080"/>
            <a:ext cx="1920240" cy="1188720"/>
          </a:xfrm>
          <a:prstGeom prst="rect">
            <a:avLst/>
          </a:prstGeom>
          <a:solidFill>
            <a:srgbClr val="DCE6ED"/>
          </a:solidFill>
          <a:ln w="12700">
            <a:solidFill>
              <a:srgbClr val="DCE6E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21424" y="18562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#4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821424" y="2130552"/>
            <a:ext cx="1700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proactivas ante demora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3154680"/>
            <a:ext cx="1920240" cy="1188720"/>
          </a:xfrm>
          <a:prstGeom prst="rect">
            <a:avLst/>
          </a:prstGeom>
          <a:solidFill>
            <a:srgbClr val="DCE6ED"/>
          </a:solidFill>
          <a:ln w="12700">
            <a:solidFill>
              <a:srgbClr val="DCE6E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6928" y="32278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#5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3502152"/>
            <a:ext cx="1700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digital de entrega firmado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542032" y="3154680"/>
            <a:ext cx="1920240" cy="1188720"/>
          </a:xfrm>
          <a:prstGeom prst="rect">
            <a:avLst/>
          </a:prstGeom>
          <a:solidFill>
            <a:srgbClr val="DCE6ED"/>
          </a:solidFill>
          <a:ln w="12700">
            <a:solidFill>
              <a:srgbClr val="DCE6E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651760" y="32278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#6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2651760" y="3502152"/>
            <a:ext cx="1700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Encuesta corta tras cada entrega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626864" y="3154680"/>
            <a:ext cx="1920240" cy="1188720"/>
          </a:xfrm>
          <a:prstGeom prst="rect">
            <a:avLst/>
          </a:prstGeom>
          <a:solidFill>
            <a:srgbClr val="DCE6ED"/>
          </a:solidFill>
          <a:ln w="12700">
            <a:solidFill>
              <a:srgbClr val="DCE6E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736592" y="32278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#7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736592" y="3502152"/>
            <a:ext cx="1700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para consultar el estado del envío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711696" y="3154680"/>
            <a:ext cx="1920240" cy="1188720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21424" y="32278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A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#8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6821424" y="3502152"/>
            <a:ext cx="1700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unificado de monitoreo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57200" y="4553712"/>
            <a:ext cx="164592" cy="164592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85800" y="451713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1600200" y="4553712"/>
            <a:ext cx="164592" cy="164592"/>
          </a:xfrm>
          <a:prstGeom prst="rect">
            <a:avLst/>
          </a:prstGeom>
          <a:solidFill>
            <a:srgbClr val="DCE6ED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828800" y="451713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/ comunicación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2 · ARMAR LA SOLUCIÓN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Luego cerrar: priorizar 2 o 3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Taller 7 · Oportunidades y Soluciones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51206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731520"/>
                <a:gridCol w="731520"/>
                <a:gridCol w="868680"/>
                <a:gridCol w="9601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Solución priorizada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Esfuerzo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Prioridad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Balanceador redundante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C71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Quick win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BD particionada por región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Largo plazo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Módulo de rutas en Medellín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Largo plazo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852160" y="1371600"/>
            <a:ext cx="2834640" cy="1828800"/>
          </a:xfrm>
          <a:prstGeom prst="rect">
            <a:avLst/>
          </a:prstGeom>
          <a:solidFill>
            <a:srgbClr val="F3F6F8"/>
          </a:solidFill>
          <a:ln w="9525">
            <a:solidFill>
              <a:srgbClr val="C6C4B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89320" y="1463040"/>
            <a:ext cx="2560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estas tres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las únicas ideas con una brecha ya evidenciada en el Taller 4: trazabilidad directa del AS-IS al TO-BE.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3474720"/>
            <a:ext cx="8229600" cy="1097280"/>
          </a:xfrm>
          <a:prstGeom prst="rect">
            <a:avLst/>
          </a:prstGeom>
          <a:solidFill>
            <a:srgbClr val="DCE6ED"/>
          </a:solidFill>
          <a:ln w="12700">
            <a:solidFill>
              <a:srgbClr val="DCE6E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347472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ideas de proceso (#4 a #7) quedan en backlog: </a:t>
            </a:r>
            <a:pPr indent="0" marL="0">
              <a:buNone/>
            </a:pPr>
            <a:r>
              <a:rPr lang="en-US" sz="125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válidas y baratas, pero aún no tienen un hallazgo formal que las respalde. En su cliente real, si una idea de proceso responde a un problema recurrente de las entrevistas, sí se prioriza: no se descarta por ser "de proceso".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2 · ARMAR LA SOLUCIÓN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Dibujar el TO-BE: extender, no reemplazar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Taller 7 · Oportunidades y Soluciones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80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AS-IS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3931920" cy="457200"/>
          </a:xfrm>
          <a:prstGeom prst="rect">
            <a:avLst/>
          </a:prstGeom>
          <a:solidFill>
            <a:srgbClr val="B4552B"/>
          </a:solidFill>
          <a:ln w="12700">
            <a:solidFill>
              <a:srgbClr val="B455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645920"/>
            <a:ext cx="393192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Balanceador de carga · único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463040" y="2103120"/>
            <a:ext cx="0" cy="320040"/>
          </a:xfrm>
          <a:prstGeom prst="line">
            <a:avLst/>
          </a:prstGeom>
          <a:noFill/>
          <a:ln w="19050">
            <a:solidFill>
              <a:srgbClr val="5A7189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383280" y="2103120"/>
            <a:ext cx="0" cy="320040"/>
          </a:xfrm>
          <a:prstGeom prst="line">
            <a:avLst/>
          </a:prstGeom>
          <a:noFill/>
          <a:ln w="19050">
            <a:solidFill>
              <a:srgbClr val="5A7189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57200" y="2423160"/>
            <a:ext cx="1920240" cy="822960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423160"/>
            <a:ext cx="1920240" cy="8229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Región Bogotá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 + BD Bogotá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468880" y="2423160"/>
            <a:ext cx="1920240" cy="822960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468880" y="2423160"/>
            <a:ext cx="1920240" cy="8229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Región Medellín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rutas propias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1280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1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TO-BE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645920"/>
            <a:ext cx="1920240" cy="457200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754880" y="1645920"/>
            <a:ext cx="192024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Balanceador activo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766560" y="1645920"/>
            <a:ext cx="1920240" cy="457200"/>
          </a:xfrm>
          <a:prstGeom prst="rect">
            <a:avLst/>
          </a:prstGeom>
          <a:solidFill>
            <a:srgbClr val="1C7150"/>
          </a:solidFill>
          <a:ln w="12700">
            <a:solidFill>
              <a:srgbClr val="1C715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66560" y="1645920"/>
            <a:ext cx="192024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 · pasivo (failover)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760720" y="2103120"/>
            <a:ext cx="0" cy="320040"/>
          </a:xfrm>
          <a:prstGeom prst="line">
            <a:avLst/>
          </a:prstGeom>
          <a:noFill/>
          <a:ln w="19050">
            <a:solidFill>
              <a:srgbClr val="5A7189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492240" y="2103120"/>
            <a:ext cx="1188720" cy="320040"/>
          </a:xfrm>
          <a:prstGeom prst="line">
            <a:avLst/>
          </a:prstGeom>
          <a:noFill/>
          <a:ln w="19050">
            <a:solidFill>
              <a:srgbClr val="5A7189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754880" y="2423160"/>
            <a:ext cx="1920240" cy="822960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754880" y="2423160"/>
            <a:ext cx="1920240" cy="8229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Región Bogotá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 + BD Bogotá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766560" y="2423160"/>
            <a:ext cx="1920240" cy="822960"/>
          </a:xfrm>
          <a:prstGeom prst="rect">
            <a:avLst/>
          </a:prstGeom>
          <a:solidFill>
            <a:srgbClr val="1C7150"/>
          </a:solidFill>
          <a:ln w="12700">
            <a:solidFill>
              <a:srgbClr val="1C715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766560" y="2423160"/>
            <a:ext cx="1920240" cy="8229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Región Medellín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 · rutas propias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766560" y="3337560"/>
            <a:ext cx="1920240" cy="502920"/>
          </a:xfrm>
          <a:prstGeom prst="rect">
            <a:avLst/>
          </a:prstGeom>
          <a:solidFill>
            <a:srgbClr val="1C7150"/>
          </a:solidFill>
          <a:ln w="12700">
            <a:solidFill>
              <a:srgbClr val="1C715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766560" y="3337560"/>
            <a:ext cx="1920240" cy="5029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 · BD Medellín (partición)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elemento nuevo corrige una brecha del diagnóstico y conserva el nombre del componente original, para que el comité pueda rastrear el cambio.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3 · TOMAR LA DECISIÓN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brecha, varias formas de cerrarla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Taller 7 · Oportunidades y Soluciones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Tomamos la prioridad 1. Antes de comprar nada: ¿cómo se elimina exactamente el punto único de falla del balanceador?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2606040" cy="2011680"/>
          </a:xfrm>
          <a:prstGeom prst="rect">
            <a:avLst/>
          </a:prstGeom>
          <a:solidFill>
            <a:srgbClr val="F3F6F8"/>
          </a:solidFill>
          <a:ln w="9525">
            <a:solidFill>
              <a:srgbClr val="C6C4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057400"/>
            <a:ext cx="457200" cy="457200"/>
          </a:xfrm>
          <a:prstGeom prst="ellipse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057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Activo-pasivo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69748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segunda instancia espera y toma el tráfico si la primera cae (failover automático).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64408" y="1920240"/>
            <a:ext cx="2606040" cy="2011680"/>
          </a:xfrm>
          <a:prstGeom prst="rect">
            <a:avLst/>
          </a:prstGeom>
          <a:solidFill>
            <a:srgbClr val="F3F6F8"/>
          </a:solidFill>
          <a:ln w="9525">
            <a:solidFill>
              <a:srgbClr val="C6C4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47288" y="2057400"/>
            <a:ext cx="457200" cy="457200"/>
          </a:xfrm>
          <a:prstGeom prst="ellipse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447288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041648" y="2057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Activo-activo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447288" y="269748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instancias atienden tráfico a la vez, con almacén de sesión compartido.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71616" y="1920240"/>
            <a:ext cx="2606040" cy="2011680"/>
          </a:xfrm>
          <a:prstGeom prst="rect">
            <a:avLst/>
          </a:prstGeom>
          <a:solidFill>
            <a:srgbClr val="F3F6F8"/>
          </a:solidFill>
          <a:ln w="9525">
            <a:solidFill>
              <a:srgbClr val="C6C4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54496" y="2057400"/>
            <a:ext cx="457200" cy="457200"/>
          </a:xfrm>
          <a:prstGeom prst="ellipse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54496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848856" y="2057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Mantener el único + monitoreo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254496" y="269748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opción radicalmente distinta: aceptar el riesgo y solo detectar la falla más rápido.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114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45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"porque se ve mejor" no se puede defender ante un comité ni reconstruir dentro de un año. Necesitamos un método.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3 · TOMAR LA DECISIÓN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método: ocho pasos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Taller 7 · Oportunidades y Soluciones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920240" cy="1280160"/>
          </a:xfrm>
          <a:prstGeom prst="rect">
            <a:avLst/>
          </a:prstGeom>
          <a:solidFill>
            <a:srgbClr val="F3F6F8"/>
          </a:solidFill>
          <a:ln w="9525">
            <a:solidFill>
              <a:srgbClr val="C6C4B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" y="14447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755648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Enunciar el problema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214884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términos de impacto, no de solución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42032" y="1371600"/>
            <a:ext cx="1920240" cy="1280160"/>
          </a:xfrm>
          <a:prstGeom prst="rect">
            <a:avLst/>
          </a:prstGeom>
          <a:solidFill>
            <a:srgbClr val="16273F"/>
          </a:solidFill>
          <a:ln w="9525">
            <a:solidFill>
              <a:srgbClr val="16273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51760" y="14447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A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651760" y="1755648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Ubicar el momento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651760" y="214884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último momento responsable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26864" y="1371600"/>
            <a:ext cx="1920240" cy="1280160"/>
          </a:xfrm>
          <a:prstGeom prst="rect">
            <a:avLst/>
          </a:prstGeom>
          <a:solidFill>
            <a:srgbClr val="F3F6F8"/>
          </a:solidFill>
          <a:ln w="9525">
            <a:solidFill>
              <a:srgbClr val="C6C4B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36592" y="14447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736592" y="1755648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criterios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736592" y="214884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Ponderados por el negocio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711696" y="1371600"/>
            <a:ext cx="1920240" cy="1280160"/>
          </a:xfrm>
          <a:prstGeom prst="rect">
            <a:avLst/>
          </a:prstGeom>
          <a:solidFill>
            <a:srgbClr val="F3F6F8"/>
          </a:solidFill>
          <a:ln w="9525">
            <a:solidFill>
              <a:srgbClr val="C6C4B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21424" y="14447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821424" y="1755648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opciones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821424" y="214884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 3, una radicalmente distinta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2834640"/>
            <a:ext cx="1920240" cy="1280160"/>
          </a:xfrm>
          <a:prstGeom prst="rect">
            <a:avLst/>
          </a:prstGeom>
          <a:solidFill>
            <a:srgbClr val="F3F6F8"/>
          </a:solidFill>
          <a:ln w="9525">
            <a:solidFill>
              <a:srgbClr val="C6C4B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66928" y="29077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3218688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Pedir consejo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361188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quien sabe y a quien le afecta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542032" y="2834640"/>
            <a:ext cx="1920240" cy="1280160"/>
          </a:xfrm>
          <a:prstGeom prst="rect">
            <a:avLst/>
          </a:prstGeom>
          <a:solidFill>
            <a:srgbClr val="F3F6F8"/>
          </a:solidFill>
          <a:ln w="9525">
            <a:solidFill>
              <a:srgbClr val="C6C4B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651760" y="29077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2651760" y="3218688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trade-offs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2651760" y="361188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Puntuar cada opción por criterio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626864" y="2834640"/>
            <a:ext cx="1920240" cy="1280160"/>
          </a:xfrm>
          <a:prstGeom prst="rect">
            <a:avLst/>
          </a:prstGeom>
          <a:solidFill>
            <a:srgbClr val="F3F6F8"/>
          </a:solidFill>
          <a:ln w="9525">
            <a:solidFill>
              <a:srgbClr val="C6C4B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736592" y="29077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4736592" y="3218688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4736592" y="361188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comunicarlo con su razón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711696" y="2834640"/>
            <a:ext cx="1920240" cy="1280160"/>
          </a:xfrm>
          <a:prstGeom prst="rect">
            <a:avLst/>
          </a:prstGeom>
          <a:solidFill>
            <a:srgbClr val="F3F6F8"/>
          </a:solidFill>
          <a:ln w="9525">
            <a:solidFill>
              <a:srgbClr val="C6C4B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821424" y="29077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6821424" y="3218688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Reevaluar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6821424" y="361188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Fijar cuándo se vuelve a mirar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paso 2 es el que más cambia el resultado: decidir antes de tiempo cierra opciones que aún no hacía falta cerrar; decidir tarde deja al equipo bloqueado.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3 · PASOS 1 Y 2 · EJEMPLO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bien enunciado y fecha límite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Taller 7 · Oportunidades y Soluciones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344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PASO 1 · ENUNCIAR EL PROBLEMA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4023360" cy="960120"/>
          </a:xfrm>
          <a:prstGeom prst="rect">
            <a:avLst/>
          </a:prstGeom>
          <a:solidFill>
            <a:srgbClr val="F6E4DB"/>
          </a:solidFill>
          <a:ln w="12700">
            <a:solidFill>
              <a:srgbClr val="F6E4D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508760"/>
            <a:ext cx="4023360" cy="96012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45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«Necesitamos un segundo balanceador de carga»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B45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es una solución disfrazada de problema.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1508760"/>
            <a:ext cx="4023360" cy="960120"/>
          </a:xfrm>
          <a:prstGeom prst="rect">
            <a:avLst/>
          </a:prstGeom>
          <a:solidFill>
            <a:srgbClr val="DDEFE6"/>
          </a:solidFill>
          <a:ln w="12700">
            <a:solidFill>
              <a:srgbClr val="DDEF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1508760"/>
            <a:ext cx="4023360" cy="96012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7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«Si el balanceador cae en campaña, toda la plataforma queda inaccesible: en el pico de ~1.200 envíos/hora, cada hora deja esos envíos sin asignar»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697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PASO 2 · ÚLTIMO MOMENTO RESPONSABLE (se calcula hacia atrás)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1737360" cy="777240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017520"/>
            <a:ext cx="1737360" cy="7772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de noviembre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 la campaña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2194560" y="3017520"/>
            <a:ext cx="36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A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2560320" y="3017520"/>
            <a:ext cx="2286000" cy="777240"/>
          </a:xfrm>
          <a:prstGeom prst="rect">
            <a:avLst/>
          </a:prstGeom>
          <a:solidFill>
            <a:srgbClr val="DCE6ED"/>
          </a:solidFill>
          <a:ln w="12700">
            <a:solidFill>
              <a:srgbClr val="DCE6E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560320" y="3017520"/>
            <a:ext cx="2286000" cy="7772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semanas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de implementación + 2 de pruebas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3017520"/>
            <a:ext cx="36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A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5212080" y="3017520"/>
            <a:ext cx="1554480" cy="777240"/>
          </a:xfrm>
          <a:prstGeom prst="rect">
            <a:avLst/>
          </a:prstGeom>
          <a:solidFill>
            <a:srgbClr val="B4552B"/>
          </a:solidFill>
          <a:ln w="12700">
            <a:solidFill>
              <a:srgbClr val="B4552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212080" y="3017520"/>
            <a:ext cx="1554480" cy="7772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6 de sept.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último momento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949440" y="3017520"/>
            <a:ext cx="1737360" cy="777240"/>
          </a:xfrm>
          <a:prstGeom prst="rect">
            <a:avLst/>
          </a:prstGeom>
          <a:solidFill>
            <a:srgbClr val="F3F6F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949440" y="3017520"/>
            <a:ext cx="1737360" cy="7772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Hoy: 25 de ago.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quedan ~12 días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3977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Consecuencia: hay que decidir esta semana o la siguiente, no en octubre. Y una opción que necesite 10 semanas más pruebas ya no llega a esta campaña.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3 · PASOS 3 Y 4 · EJEMPLO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Criterios, pesos y escala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Taller 7 · Oportunidades y Soluciones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325880"/>
          <a:ext cx="356616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0" y="1371600"/>
          <a:ext cx="45720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55448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significa…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significa…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Disponibilidad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Ninguna caída perceptible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falla sigue tumbando la plataforma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USD 100/mes extra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USD 1.200/mes extra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Complejidad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Nada nuevo que operar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Sincronización y pruebas continuas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Tiempo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 semana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10 semanas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457200" y="38404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criterios salen del problema del paso 1. Los pesos salen del negocio, no del equipo técnico: el riesgo de disponibilidad es el más alto del Taller 4 (35 %); el presupuesto es la dependencia principal (25 %).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3 · PASO 5 · EJEMPLO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Pedir consejo antes de puntuar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Taller 7 · Oportunidades y Soluciones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937760"/>
                <a:gridCol w="128016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quién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aportó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Opción que afecta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Líder de infraestructura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(sabe)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conmutación activo-pasivo demora 30 a 60 s. El activo-activo exige un almacén de sesión compartido que hoy no existe.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y 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Proveedor cloud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(sabe)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Segunda instancia ≈ USD 400/mes. Activo-activo con almacén de sesión ≈ USD 1.100/mes. Monitoreo reforzado ≈ USD 60/mes.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A, B y 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Jefe de operadores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(le afecta)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Esperar 30 a 60 s al conmutar es tolerable. Una caída de más de 10 minutos en campaña, no.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frente a 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4206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aquí salen los datos que sostienen los puntajes de la siguiente lámina: ningún número sale del aire.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3 · PASO 6 · EJEMPLO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Puntuar cada opción, celda por celda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Taller 7 · Oportunidades y Soluciones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691640"/>
                <a:gridCol w="1691640"/>
                <a:gridCol w="1691640"/>
                <a:gridCol w="169164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Disponibilidad 35 %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Costo 25 %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Complejidad 20 %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Tiempo 20 %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· Activo-pasivo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2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conmuta solo, pero con ventana de 30-60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2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+USD 400/mes: rango 100-500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2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componente nuevo, failover simple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2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4-6 semanas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· Activo-activo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2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ventana de conmutación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2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+USD 1.100/mes: rango 800-1.200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2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sesiones y balanceo continuos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2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8-10 semanas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· Único + monitoreo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2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elimina el punto único de falla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2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+USD 60/mes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2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nada nuevo que operar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2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menos de 1 semana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43159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número sin justificación es una opinión: cada celda cita la escala del criterio o el dato consultado en el paso 5.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3 · PASO 6 · EJEMPLO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Multiplicar por el peso y sumar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Taller 7 · Oportunidades y Soluciones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50292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743200"/>
                <a:gridCol w="73152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Cálculo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· Activo-pasivo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4×0,35 + 4×0,25 + 4×0,20 + 3×0,20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 1,40 + 1,00 + 0,80 + 0,60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C71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· Activo-activo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5×0,35 + 2×0,25 + 2×0,20 + 2×0,20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 1,75 + 0,50 + 0,40 + 0,40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· Único + monitoreo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1×0,35 + 5×0,25 + 5×0,20 + 5×0,20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 0,35 + 1,25 + 1,00 + 1,00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Chart 0" descr=""/>
          <p:cNvGraphicFramePr/>
          <p:nvPr/>
        </p:nvGraphicFramePr>
        <p:xfrm>
          <a:off x="5669280" y="1280160"/>
          <a:ext cx="31089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457200" y="4206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45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gana con 3,80, pero mire a C: queda segunda sin resolver el problema. Eso pide una regla extra.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3 · CÓMO LEER EL RESULTADO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total no basta: tres comprobaciones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Taller 7 · Oportunidades y Soluciones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280160"/>
          <a:ext cx="448056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029200" y="1325880"/>
            <a:ext cx="3657600" cy="987552"/>
          </a:xfrm>
          <a:prstGeom prst="rect">
            <a:avLst/>
          </a:prstGeom>
          <a:solidFill>
            <a:srgbClr val="F3F6F8"/>
          </a:solidFill>
          <a:ln w="9525">
            <a:solidFill>
              <a:srgbClr val="C6C4B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138928" y="1371600"/>
            <a:ext cx="34564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Criterio eliminatorio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"Toda opción con disponibilidad menor a 3 se descarta". C sale del juego aunque su total sea 3,60.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29200" y="2423160"/>
            <a:ext cx="3657600" cy="987552"/>
          </a:xfrm>
          <a:prstGeom prst="rect">
            <a:avLst/>
          </a:prstGeom>
          <a:solidFill>
            <a:srgbClr val="F3F6F8"/>
          </a:solidFill>
          <a:ln w="9525">
            <a:solidFill>
              <a:srgbClr val="C6C4B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138928" y="2468880"/>
            <a:ext cx="34564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Sensibilidad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costo primero, C gana (4,40): no hacer nada. Si el resultado se invierte, el desacuerdo real es qué valora el negocio; los pesos los fija el cliente.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0" y="3520440"/>
            <a:ext cx="3657600" cy="987552"/>
          </a:xfrm>
          <a:prstGeom prst="rect">
            <a:avLst/>
          </a:prstGeom>
          <a:solidFill>
            <a:srgbClr val="F3F6F8"/>
          </a:solidFill>
          <a:ln w="9525">
            <a:solidFill>
              <a:srgbClr val="C6C4B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138928" y="3566160"/>
            <a:ext cx="34564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Empate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dos opciones quedan a menos de 0,3 puntos, se tratan como empate: decida por el criterio más crítico o por el riesgo de reversión.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2062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Pruébelo en la página interactiva del taller: mueva los pesos con los deslizadores y vea cambiar el ranking.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3 · CO-INTELIGENCIA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propone; el equipo justifica y decide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Taller 7 · Oportunidades y Soluciones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017520"/>
                <a:gridCol w="393192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le pide a la 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 que revisa el equipo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· Opciones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Opciones adicionales, en especial una radicalmente distinta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 sean viables con presupuesto, plazo y equipo. Una idea de la IA es una hipótesis hasta verificarla con quien sabe.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· Puntuar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borrador de puntajes con su razón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Cada puntaje contra la escala y los datos del paso 5. Se corrige lo que no coincida.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· Decidir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 ataque la decisión: qué supuesto la invalida y con qué pesos ganaría otra opción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 lo que afirma se recalcule: sus cifras y conclusiones pueden ser incorrectas.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borrador de la ADR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Alternativas descartadas con su razón, consecuencias negativas y ningún dato inventado.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42062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Puntúe primero usted y compare después con la IA: así evita el anclaje al número que llegó primero.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3 · CO-INTELIGENCIA · EJEMPLO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dijo… y el equipo recalculó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Taller 7 · Oportunidades y Soluciones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566160" cy="1188720"/>
          </a:xfrm>
          <a:prstGeom prst="rect">
            <a:avLst/>
          </a:prstGeom>
          <a:solidFill>
            <a:srgbClr val="F6E4DB"/>
          </a:solidFill>
          <a:ln w="12700">
            <a:solidFill>
              <a:srgbClr val="F6E4D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37160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B45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IA AFIRMÓ</a:t>
            </a:r>
            <a:endParaRPr lang="en-US" sz="950" dirty="0"/>
          </a:p>
          <a:p>
            <a:pPr indent="0" marL="0">
              <a:buNone/>
            </a:pPr>
            <a:r>
              <a:rPr lang="en-US" sz="1300" i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«Si la disponibilidad pesara 50 %, ganaría la opción B (activo-activo).»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2697480"/>
            <a:ext cx="3566160" cy="1371600"/>
          </a:xfrm>
          <a:prstGeom prst="rect">
            <a:avLst/>
          </a:prstGeom>
          <a:solidFill>
            <a:srgbClr val="DDEFE6"/>
          </a:solidFill>
          <a:ln w="12700">
            <a:solidFill>
              <a:srgbClr val="DDEF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274320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1C71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EQUIPO LO RECALCULÓ</a:t>
            </a:r>
            <a:endParaRPr lang="en-US" sz="950" dirty="0"/>
          </a:p>
          <a:p>
            <a:pPr indent="0" marL="0">
              <a:buNone/>
            </a:pPr>
            <a:r>
              <a:rPr lang="en-US" sz="1250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50 %, A sigue ganando (3,83 frente a 3,50). B solo gana si la disponibilidad pesa más de ~62 %.</a:t>
            </a:r>
            <a:endParaRPr lang="en-US" sz="9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51960" y="1325880"/>
          <a:ext cx="443484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822960"/>
                <a:gridCol w="822960"/>
                <a:gridCol w="8229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Peso de disponibilidad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35 % (pesos del negocio)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50 % (lo que afirmó la IA)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455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62,5 %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3,90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4251960" y="3749040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pierde la cifra, pero se gana la pregunta: al comité se le puede decir «si ustedes valoran la disponibilidad por encima de ~62 %, cambiamos a B». La IA es buena generando la pregunta incómoda; la respuesta se recalcula siempre.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3 · CO-INTELIGENCIA · REGLAS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Siete reglas, y qué cambia si la solución lleva IA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Taller 7 · Oportunidades y Soluciones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29184" cy="329184"/>
          </a:xfrm>
          <a:prstGeom prst="ellipse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325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13258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propone, el equipo justifica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329184" cy="329184"/>
          </a:xfrm>
          <a:prstGeom prst="ellipse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17830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17830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pesos no se delegan: los fija el negocio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240280"/>
            <a:ext cx="329184" cy="329184"/>
          </a:xfrm>
          <a:prstGeom prst="ellipse">
            <a:avLst/>
          </a:prstGeom>
          <a:solidFill>
            <a:srgbClr val="B4552B"/>
          </a:solidFill>
          <a:ln w="12700">
            <a:solidFill>
              <a:srgbClr val="B4552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240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2240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cifra o afirmación se verifica o se recalcula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2697480"/>
            <a:ext cx="329184" cy="329184"/>
          </a:xfrm>
          <a:prstGeom prst="ellipse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2697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26974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Puntúe primero usted, compare después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3154680"/>
            <a:ext cx="329184" cy="329184"/>
          </a:xfrm>
          <a:prstGeom prst="ellipse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3154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31546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Pida también la contra-opinión (no solo la opción popular)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3611880"/>
            <a:ext cx="329184" cy="329184"/>
          </a:xfrm>
          <a:prstGeom prst="ellipse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" y="3611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14400" y="36118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Anonimice al cliente o confirme que autoriza la herramienta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4069080"/>
            <a:ext cx="329184" cy="329184"/>
          </a:xfrm>
          <a:prstGeom prst="ellipse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7200" y="40690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914400" y="40690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 qué propuso la IA y qué cambió el equipo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120640" y="1325880"/>
            <a:ext cx="3566160" cy="3200400"/>
          </a:xfrm>
          <a:prstGeom prst="rect">
            <a:avLst/>
          </a:prstGeom>
          <a:solidFill>
            <a:srgbClr val="F3F6F8"/>
          </a:solidFill>
          <a:ln w="9525">
            <a:solidFill>
              <a:srgbClr val="C6C4B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257800" y="1417320"/>
            <a:ext cx="32918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una opción incluye IA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Agregue criterios a la matriz: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Autonomía y supervisión humana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Tríada letal (Taller 5)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Fiabilidad: qué pasa si alucina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variable y dependencia del proveedor del modelo</a:t>
            </a: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el chatbot de RedExpress (idea #7) se modela con el patrón de sistemas agénticos, no como caja negra.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3 · PASOS 7 Y 8 · EJEMPLO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Decidir, comunicar y fijar cuándo revisar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Taller 7 · Oportunidades y Soluciones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1691640"/>
          </a:xfrm>
          <a:prstGeom prst="rect">
            <a:avLst/>
          </a:prstGeom>
          <a:solidFill>
            <a:srgbClr val="DCE6ED"/>
          </a:solidFill>
          <a:ln w="12700">
            <a:solidFill>
              <a:srgbClr val="DCE6E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17320"/>
            <a:ext cx="7863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5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DECISIÓN  </a:t>
            </a:r>
            <a:pPr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un balanceador activo-pasivo con failover automático (opción A).</a:t>
            </a:r>
            <a:endParaRPr lang="en-US" sz="1250" dirty="0"/>
          </a:p>
          <a:p>
            <a:pPr indent="0" marL="0">
              <a:buNone/>
            </a:pPr>
            <a:r>
              <a:rPr lang="en-US" sz="1000" b="1" dirty="0">
                <a:solidFill>
                  <a:srgbClr val="B45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TRADE-OFF  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sacrifica la conmutación instantánea (ventana de 30-60 s) a cambio de menor costo y complejidad que el activo-activo.</a:t>
            </a:r>
            <a:endParaRPr lang="en-US" sz="1250" dirty="0"/>
          </a:p>
          <a:p>
            <a:pPr indent="0" marL="0">
              <a:buNone/>
            </a:pPr>
            <a:r>
              <a:rPr lang="en-US" sz="1000" b="1" dirty="0">
                <a:solidFill>
                  <a:srgbClr val="B45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DESCARTADAS  </a:t>
            </a:r>
            <a:pPr indent="0" marL="0">
              <a:buNone/>
            </a:pPr>
            <a:r>
              <a:rPr lang="en-US" sz="125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B, por costo (+USD 1.100/mes) y por no llegar a la campaña. C, por no eliminar el punto único de falla.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3246120"/>
            <a:ext cx="4023360" cy="1280160"/>
          </a:xfrm>
          <a:prstGeom prst="rect">
            <a:avLst/>
          </a:prstGeom>
          <a:solidFill>
            <a:srgbClr val="F3F6F8"/>
          </a:solidFill>
          <a:ln w="9525">
            <a:solidFill>
              <a:srgbClr val="C6C4B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3310128"/>
            <a:ext cx="37490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8 · Reevaluar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después de la campaña de fin de año, o antes si el tráfico crece 30 % sobre el pico. Si eso ocurre, reconsiderar B.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3246120"/>
            <a:ext cx="4023360" cy="1280160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0600" y="3310128"/>
            <a:ext cx="37490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ya es una ADR en borrador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Contexto, alternativas descartadas, decisión y consecuencias. En el Taller 9 se formaliza su registro.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4 · DEL NEGOCIO AL TRABAJO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Agrupar las brechas por capacidad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Taller 7 · Oportunidades y Soluciones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endParaRPr lang="en-US" sz="8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54864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640080"/>
                <a:gridCol w="640080"/>
                <a:gridCol w="19202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Capacidad de negocio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AS-IS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TO-BE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Paquete de trabajo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Recepción y registro de envíos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2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2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A7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brecha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Planeación y asignación de rutas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455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C71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WP2 · Rutas y datos regionales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Seguimiento en tiempo real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2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C71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WP2 · Rutas y datos regionales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Notificación y atención al cliente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2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2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A7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Backlog (ideas #4 y #7)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Continuidad operativa de la plataforma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455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C71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WP1 · Continuidad (quick win)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172200" y="1325880"/>
            <a:ext cx="2514600" cy="2743200"/>
          </a:xfrm>
          <a:prstGeom prst="rect">
            <a:avLst/>
          </a:prstGeom>
          <a:solidFill>
            <a:srgbClr val="F3F6F8"/>
          </a:solidFill>
          <a:ln w="9525">
            <a:solidFill>
              <a:srgbClr val="C6C4B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09360" y="1417320"/>
            <a:ext cx="2286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lo mismo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Capacidad: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debe saber hacer (planear rutas).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Proceso: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hace, paso a paso (BPMN).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Aplicación: </a:t>
            </a:r>
            <a:pPr indent="0" marL="0">
              <a:buNone/>
            </a:pPr>
            <a:r>
              <a:rPr lang="en-US" sz="110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sistema lo soporta (Motor de Rutas).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Madurez 1-5: 1 = ad hoc y frágil · 3 = funciona con fallas conocidas · 5 = fiable, medida y escalable. Al comité no se le dice "un balanceador redundante", sino "la continuidad operativa sube de 2 a 4".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4 · BENEFICIOS Y RIESGOS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mejora es gratis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Taller 7 · Oportunidades y Soluciones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lang="en-US" sz="8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737360"/>
                <a:gridCol w="2011680"/>
                <a:gridCol w="27432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Solución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Brecha que cierra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Beneficio esperado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Riesgo / dependencia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Balanceador redundante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Punto único de falla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 disponibilidad de toda la plataforma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Presupuesto adicional del proveedor cloud para la segunda instancia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BD particionada por región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Cuello de botella de latencia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Mejor rendimiento del rastreo fuera de Bogotá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Migración con ventana de mantenimiento; riesgo de downtime parcial e inconsistencia inicial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Módulo de rutas en Medellín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Límite de escalabilidad geográfica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región crece sin saturar Bogotá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Requiere personal técnico en la región para operarlo y mantenerlo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42793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tabla, con el esfuerzo y el impacto de la priorización, es el insumo directo del Plan de Implementación del Taller 9: no se analiza desde cero, se traduce a fases con duración, responsable y mitigación.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ACTIVIDAD · EN EQUIPO, SOBRE SU CLIENTE REAL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Actividad: de la brecha a la decisión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Taller 7 · Oportunidades y Soluciones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920240" cy="2148840"/>
          </a:xfrm>
          <a:prstGeom prst="rect">
            <a:avLst/>
          </a:prstGeom>
          <a:solidFill>
            <a:srgbClr val="F3F6F8"/>
          </a:solidFill>
          <a:ln w="9525">
            <a:solidFill>
              <a:srgbClr val="C6C4B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5216" y="1463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min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85216" y="18288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Brechas e ideas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85216" y="219456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Consoliden las brechas de los Talleres 3 a 6 y hagan una lluvia de ideas de al menos 6 mejoras.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42032" y="1371600"/>
            <a:ext cx="1920240" cy="2148840"/>
          </a:xfrm>
          <a:prstGeom prst="rect">
            <a:avLst/>
          </a:prstGeom>
          <a:solidFill>
            <a:srgbClr val="F3F6F8"/>
          </a:solidFill>
          <a:ln w="9525">
            <a:solidFill>
              <a:srgbClr val="C6C4B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70048" y="1463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min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670048" y="18288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decisión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670048" y="219456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Elijan UNA brecha con varias soluciones y completen la plantilla: problema, fecha límite, criterios, pesos, puntajes justificados.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26864" y="1371600"/>
            <a:ext cx="1920240" cy="2148840"/>
          </a:xfrm>
          <a:prstGeom prst="rect">
            <a:avLst/>
          </a:prstGeom>
          <a:solidFill>
            <a:srgbClr val="F3F6F8"/>
          </a:solidFill>
          <a:ln w="9525">
            <a:solidFill>
              <a:srgbClr val="C6C4B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54880" y="1463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min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754880" y="18288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Capacidades y paquetes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754880" y="219456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Agrupen las brechas por capacidad de negocio y armen los paquetes de trabajo.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711696" y="1371600"/>
            <a:ext cx="1920240" cy="2148840"/>
          </a:xfrm>
          <a:prstGeom prst="rect">
            <a:avLst/>
          </a:prstGeom>
          <a:solidFill>
            <a:srgbClr val="F3F6F8"/>
          </a:solidFill>
          <a:ln w="9525">
            <a:solidFill>
              <a:srgbClr val="C6C4B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39712" y="1463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min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839712" y="18288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Compartir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839712" y="219456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equipo defiende su decisión; otro equipo intenta cambiar los pesos y ver si se invierte.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3703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ERRORES QUE VAMOS A BUSCAR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39319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que ya nombra la solución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Pesos definidos solo por el equipo técnico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Puntajes sin justificación, sin opción radicalmente distinta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627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6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LLEVARSE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 es un método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A6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Taller 7 · Oportunidades y Soluciones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A6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71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A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3716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brecha tiene origen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71907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se puede señalar en un entregable anterior, es una opinión.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1371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A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5349240" y="13716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y luego cerrar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349240" y="171907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Lluvia de ideas sin censura; después, priorizar 2 o 3 con justificación.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6060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A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2606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Criterios, pesos, puntajes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295351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pesos los fija el negocio y cada puntaje lleva su razón.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26060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A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5349240" y="2606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registro no hay memoria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349240" y="295351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decisión, con su trade-off, termina en una ADR (Taller 9).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8862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A6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LECTURAS RECOMENDADAS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TOGAF Standard — Opportunities &amp; Solutions (fase E del ADM)  ·  Nygard, M. — Documenting Architecture Decisions  ·  Plantilla MADR — adr.github.io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 la brecha a la decisión · Oportunidades y Soluciones</dc:title>
  <dc:subject>PptxGenJS Presentation</dc:subject>
  <dc:creator>PptxGenJS</dc:creator>
  <cp:lastModifiedBy>PptxGenJS</cp:lastModifiedBy>
  <cp:revision>1</cp:revision>
  <dcterms:created xsi:type="dcterms:W3CDTF">2026-09-19T03:05:35Z</dcterms:created>
  <dcterms:modified xsi:type="dcterms:W3CDTF">2026-09-19T03:05:35Z</dcterms:modified>
</cp:coreProperties>
</file>